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0" r:id="rId4"/>
    <p:sldId id="261" r:id="rId5"/>
    <p:sldId id="259" r:id="rId6"/>
    <p:sldId id="263" r:id="rId7"/>
    <p:sldId id="262" r:id="rId8"/>
    <p:sldId id="264" r:id="rId9"/>
    <p:sldId id="269" r:id="rId10"/>
    <p:sldId id="267" r:id="rId11"/>
    <p:sldId id="268" r:id="rId12"/>
    <p:sldId id="257" r:id="rId13"/>
    <p:sldId id="273" r:id="rId14"/>
    <p:sldId id="274" r:id="rId15"/>
    <p:sldId id="275" r:id="rId16"/>
    <p:sldId id="276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73" autoAdjust="0"/>
  </p:normalViewPr>
  <p:slideViewPr>
    <p:cSldViewPr snapToGrid="0">
      <p:cViewPr varScale="1">
        <p:scale>
          <a:sx n="101" d="100"/>
          <a:sy n="101" d="100"/>
        </p:scale>
        <p:origin x="90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3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5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9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0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0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92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9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8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60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0608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5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8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29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35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1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07290-6995-4E73-9A4C-6B44FDB5A23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5BF09-0B17-4268-9D90-C244D13DE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70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DBE6-FEFC-E0FD-1B73-31E78C83C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68362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De </a:t>
            </a:r>
            <a:r>
              <a:rPr lang="en-US" dirty="0" err="1">
                <a:solidFill>
                  <a:srgbClr val="FFFF00"/>
                </a:solidFill>
              </a:rPr>
              <a:t>Texto</a:t>
            </a:r>
            <a:r>
              <a:rPr lang="en-US" dirty="0">
                <a:solidFill>
                  <a:srgbClr val="FFFF00"/>
                </a:solidFill>
              </a:rPr>
              <a:t> Crudo a Insights: Pipeline </a:t>
            </a:r>
            <a:r>
              <a:rPr lang="en-US" dirty="0" err="1">
                <a:solidFill>
                  <a:srgbClr val="FFFF00"/>
                </a:solidFill>
              </a:rPr>
              <a:t>Completo</a:t>
            </a:r>
            <a:r>
              <a:rPr lang="en-US" dirty="0">
                <a:solidFill>
                  <a:srgbClr val="FFFF00"/>
                </a:solidFill>
              </a:rPr>
              <a:t> de </a:t>
            </a:r>
            <a:r>
              <a:rPr lang="en-US" dirty="0" err="1">
                <a:solidFill>
                  <a:srgbClr val="FFFF00"/>
                </a:solidFill>
              </a:rPr>
              <a:t>Análisis</a:t>
            </a:r>
            <a:r>
              <a:rPr lang="en-US" dirty="0">
                <a:solidFill>
                  <a:srgbClr val="FFFF00"/>
                </a:solidFill>
              </a:rPr>
              <a:t> de NLP.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SHAKIRA Y SU HISTORIA MUSICAL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A18B6-E057-10A6-79E4-2299F5CFC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9774" y="5345113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s-AR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Carmen Rodriguez</a:t>
            </a:r>
          </a:p>
          <a:p>
            <a:pPr algn="ctr"/>
            <a:r>
              <a:rPr lang="es-AR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Materia: </a:t>
            </a:r>
            <a:r>
              <a:rPr lang="es-ES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TÉCNICAS DE PROCESAMIENTO DE HABLA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Carrera: </a:t>
            </a:r>
            <a:r>
              <a:rPr lang="en-US" dirty="0" err="1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ciencias</a:t>
            </a:r>
            <a:r>
              <a:rPr lang="en-US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de </a:t>
            </a:r>
            <a:r>
              <a:rPr lang="en-US" dirty="0" err="1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datos</a:t>
            </a:r>
            <a:r>
              <a:rPr lang="en-US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 </a:t>
            </a:r>
            <a:r>
              <a:rPr lang="en-US" dirty="0" err="1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inteligencia</a:t>
            </a:r>
            <a:r>
              <a:rPr lang="en-US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artificial</a:t>
            </a:r>
          </a:p>
        </p:txBody>
      </p:sp>
    </p:spTree>
    <p:extLst>
      <p:ext uri="{BB962C8B-B14F-4D97-AF65-F5344CB8AC3E}">
        <p14:creationId xmlns:p14="http://schemas.microsoft.com/office/powerpoint/2010/main" val="165295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A709B0-D425-77C0-924A-1C62A170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861" y="821457"/>
            <a:ext cx="3059969" cy="3302050"/>
          </a:xfrm>
        </p:spPr>
        <p:txBody>
          <a:bodyPr>
            <a:normAutofit/>
          </a:bodyPr>
          <a:lstStyle/>
          <a:p>
            <a:pPr algn="ctr"/>
            <a:r>
              <a:rPr lang="es-AR" b="1" dirty="0">
                <a:solidFill>
                  <a:srgbClr val="FFFF00"/>
                </a:solidFill>
                <a:latin typeface="Algerian" panose="04020705040A02060702" pitchFamily="82" charset="0"/>
              </a:rPr>
              <a:t>Corpus</a:t>
            </a:r>
            <a:endParaRPr lang="en-US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492B-6E41-7F07-C9F0-DC8718F3C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69" y="164424"/>
            <a:ext cx="7108594" cy="6460112"/>
          </a:xfrm>
        </p:spPr>
        <p:txBody>
          <a:bodyPr anchor="ctr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s-ES" sz="1200" dirty="0">
                <a:solidFill>
                  <a:srgbClr val="FFFF00"/>
                </a:solidFill>
              </a:rPr>
              <a:t>Descripción del corpus elegido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1200" dirty="0"/>
              <a:t>El corpus incluye canciones de todos los álbumes de Shakira publicadas entre los años 1991-2024. La fuente utilizada fue Fuentes: </a:t>
            </a:r>
            <a:r>
              <a:rPr lang="es-ES" sz="1200" dirty="0" err="1"/>
              <a:t>LyricFind</a:t>
            </a:r>
            <a:r>
              <a:rPr lang="es-ES" sz="1200" dirty="0"/>
              <a:t>, </a:t>
            </a:r>
            <a:r>
              <a:rPr lang="es-ES" sz="1200" dirty="0" err="1"/>
              <a:t>Musixmatch</a:t>
            </a:r>
            <a:endParaRPr lang="es-ES" sz="1200" dirty="0"/>
          </a:p>
          <a:p>
            <a:pPr algn="just">
              <a:lnSpc>
                <a:spcPct val="110000"/>
              </a:lnSpc>
            </a:pPr>
            <a:r>
              <a:rPr lang="es-ES" sz="1200" dirty="0">
                <a:solidFill>
                  <a:srgbClr val="FFFF00"/>
                </a:solidFill>
              </a:rPr>
              <a:t>Justificación de la elección</a:t>
            </a:r>
          </a:p>
          <a:p>
            <a:pPr algn="just">
              <a:lnSpc>
                <a:spcPct val="110000"/>
              </a:lnSpc>
            </a:pPr>
            <a:r>
              <a:rPr lang="es-ES" sz="1200" dirty="0">
                <a:solidFill>
                  <a:srgbClr val="FFFF00"/>
                </a:solidFill>
              </a:rPr>
              <a:t>Proceso de recolección</a:t>
            </a:r>
          </a:p>
          <a:p>
            <a:pPr algn="just">
              <a:lnSpc>
                <a:spcPct val="110000"/>
              </a:lnSpc>
            </a:pPr>
            <a:r>
              <a:rPr lang="es-ES" sz="1200" dirty="0">
                <a:solidFill>
                  <a:srgbClr val="FFFF00"/>
                </a:solidFill>
              </a:rPr>
              <a:t>Estadísticas básicas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1200" dirty="0"/>
              <a:t>Número total de textos: 79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1200" dirty="0"/>
              <a:t>Número total de palabras: 11870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1200" dirty="0"/>
              <a:t>Distribución de tamaños de documentos: En general, la mayoría de las canciones tienen entre 150 y 200 palabras.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ES" sz="1200" dirty="0"/>
          </a:p>
          <a:p>
            <a:pPr algn="just">
              <a:lnSpc>
                <a:spcPct val="110000"/>
              </a:lnSpc>
            </a:pPr>
            <a:r>
              <a:rPr lang="es-ES" sz="1200" dirty="0">
                <a:solidFill>
                  <a:srgbClr val="FFFF00"/>
                </a:solidFill>
              </a:rPr>
              <a:t>Exploración inicial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1200" dirty="0"/>
              <a:t>Primeras observaciones cualitativas: En una revisión inicial de los textos, se observa un uso constante de recursos poéticos como metáforas, repeticiones y preguntas retóricas. Las letras tienden a explorar temas relacionados con el amor, la introspección, la traición y la identidad. Se destacan frases potentes y expresivas que revelan una carga emocional fuerte, especialmente en los álbumes tempranos.</a:t>
            </a:r>
            <a:endParaRPr lang="en-US" sz="1200" dirty="0"/>
          </a:p>
        </p:txBody>
      </p:sp>
      <p:pic>
        <p:nvPicPr>
          <p:cNvPr id="5" name="Picture 4" descr="A cartoon of a person holding a large pink heart&#10;&#10;AI-generated content may be incorrect.">
            <a:extLst>
              <a:ext uri="{FF2B5EF4-FFF2-40B4-BE49-F238E27FC236}">
                <a16:creationId xmlns:a16="http://schemas.microsoft.com/office/drawing/2014/main" id="{5B274813-14A7-2F5D-3567-468D5D69C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856" y="3065463"/>
            <a:ext cx="201093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6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2DDB9-4261-7679-24D7-EA4E42F5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EF32D8-1C39-4E92-FD11-6E35C675D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5BE239-7AA6-9E99-CE27-690D0407B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841EEA4C-D29A-B7A9-4B11-3381E74CA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873D79F-CDEC-EF3D-76D9-2F1CA0401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6F24D1A-19B0-4C9A-AA20-9309EEF7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123FBE-CE0D-8C5C-B5EC-8557E4144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CC98F8FF-6634-0A5B-8F15-95B3D62FF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4395F75-3DC7-BE5B-416B-3E65D9228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D8DCA10B-9AED-CCE9-EB3A-6270B4510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23092FB-29B8-2203-16CC-0E93DDB35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127AE73-9C55-ADBD-3D01-CDBB01AE6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7DD0A6D5-BCA5-8652-BC37-B090EB401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092BF21-F60D-22FB-9ED1-15F8F45FF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2F6A3311-9B75-A566-24A9-AC87228E3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4406E144-529D-624D-3F79-7F569A92D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F9B9027-1FDD-45BF-7C31-EC36EE795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BF3C97C1-AB63-9D80-3717-0A7CF8052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E9A2E6C-2B6A-C29C-122D-03D02DFFF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C58C75D4-ED97-7517-6910-99B79CE27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5325DCED-83E8-1E1A-B215-8B5EED036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0E2C270E-D5C8-8BD8-DB64-AFC3B0BD5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354E373-5495-74C7-CE30-9FB89B239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D4FF8B45-0E18-0865-B25F-B1FE76E73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02BDB73-AC23-39B5-03AC-335AD15CB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C89A17D-F9F3-C5A7-B98F-47212B358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7000A2B-9444-267F-E05E-3B5F40A77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F6C685F3-28A3-6627-247F-65188C071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D07642D2-00D6-28B6-765A-268CA4B81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BEBAE74-B56E-A9E2-E57C-0C366DA9D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2EC02D-AE4F-68FB-7D53-F611FF75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09" y="1754138"/>
            <a:ext cx="3413824" cy="3302050"/>
          </a:xfrm>
        </p:spPr>
        <p:txBody>
          <a:bodyPr>
            <a:normAutofit/>
          </a:bodyPr>
          <a:lstStyle/>
          <a:p>
            <a:pPr algn="ctr"/>
            <a:r>
              <a:rPr lang="es-AR" b="1" dirty="0">
                <a:solidFill>
                  <a:srgbClr val="FFFF00"/>
                </a:solidFill>
                <a:latin typeface="Algerian" panose="04020705040A02060702" pitchFamily="82" charset="0"/>
              </a:rPr>
              <a:t>Exploración inicial</a:t>
            </a:r>
            <a:endParaRPr lang="en-US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8061983D-F988-3F6E-EF86-24FB58CF4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ADBCB1-5F84-95AF-5660-5E2474FDD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514" y="1550988"/>
            <a:ext cx="6477249" cy="387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32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22DB4-0D41-0EA6-9033-E3B53FE2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5E28C0-8668-95AE-04DE-CB6A1DDD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3B4E65-86B0-1EBB-8A91-48BCFAA62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9D17B8E-7D2B-7C64-2C18-1602186CF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D565D52F-5479-DCDA-FC7A-4E6EB9CF8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16790A1-1A5F-5068-60AA-1A410AC98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190BAE-6C02-81A5-3EB8-65431D8833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788B380-6D5C-529A-DD6C-D29A06EA6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1E0C415-C8BB-36B5-5B25-F190B1F21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91195C8A-1D69-F7E6-C643-35CD7718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D21E8631-D970-95D2-A351-30CEBF3F7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0DF31067-F4F0-05F6-5728-DEBE4683A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7B6C44EB-BDA7-C2B1-11B9-EAD7E9F3C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D5362F4-41D0-B203-1998-E07471172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E1E8DD85-8D67-D02F-0B3A-8ABB4FE1E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82033DE-8F83-3F59-F6D3-B9EF50694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6144900-6BB2-E410-6FA4-B20F78C4D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F5FE5D2-4E56-19E2-A5DB-6415A1E0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326F62F4-2848-D712-A141-EFF3CC5FA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F9EAA759-2CBB-4252-A5E2-124EE1B8D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DB1150B-AE57-38CD-0EDC-61AB17801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D3350632-1DAD-5B95-61E4-436359485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2E9F7FE-3A2C-BB74-E87F-74A2659F1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0595DEDE-3714-C746-47B3-76087A47C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C60A074B-E5D7-C59B-7441-742C4DE4E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1F1A78A4-88BB-CB28-1036-FDF122A27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1A77857D-A6BE-F87F-3FF6-5EA1F3D4D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CB254C82-4728-C0EF-D8A3-D64244842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DDEE9D11-6579-FD9E-98E0-3DDC450DE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7E3C1769-B4A0-D46A-DFE8-7100D0FBC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BEEAF97-500B-43E6-D999-8F38D214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09" y="1754138"/>
            <a:ext cx="3413824" cy="3302050"/>
          </a:xfrm>
        </p:spPr>
        <p:txBody>
          <a:bodyPr>
            <a:normAutofit/>
          </a:bodyPr>
          <a:lstStyle/>
          <a:p>
            <a:pPr algn="ctr"/>
            <a:r>
              <a:rPr lang="es-AR" b="1" dirty="0">
                <a:solidFill>
                  <a:srgbClr val="FFFF00"/>
                </a:solidFill>
                <a:latin typeface="Algerian" panose="04020705040A02060702" pitchFamily="82" charset="0"/>
              </a:rPr>
              <a:t>Exploración inicial</a:t>
            </a:r>
            <a:endParaRPr lang="en-US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0A271DD9-54AB-928C-2DE7-873C9480A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8074D1-7028-9812-5B6F-50B31AA32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236" y="1382713"/>
            <a:ext cx="6795202" cy="431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48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1498DB-3ADC-19BF-146F-436A22E66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78" y="1099101"/>
            <a:ext cx="10265923" cy="2742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98BFE8B-A891-16E0-35E6-B75E4C31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62" y="-1090917"/>
            <a:ext cx="8035827" cy="3302050"/>
          </a:xfrm>
        </p:spPr>
        <p:txBody>
          <a:bodyPr>
            <a:normAutofit/>
          </a:bodyPr>
          <a:lstStyle/>
          <a:p>
            <a:pPr algn="ctr"/>
            <a:r>
              <a:rPr lang="es-AR" sz="2400" b="1" dirty="0">
                <a:solidFill>
                  <a:srgbClr val="FFFF00"/>
                </a:solidFill>
                <a:latin typeface="Aptos" panose="020B0004020202020204" pitchFamily="34" charset="0"/>
              </a:rPr>
              <a:t>Comparación </a:t>
            </a:r>
            <a:r>
              <a:rPr lang="es-AR" sz="2400" b="1" dirty="0" err="1">
                <a:solidFill>
                  <a:srgbClr val="FFFF00"/>
                </a:solidFill>
                <a:latin typeface="Aptos" panose="020B0004020202020204" pitchFamily="34" charset="0"/>
              </a:rPr>
              <a:t>WordCloud</a:t>
            </a:r>
            <a:r>
              <a:rPr lang="es-AR" sz="2400" b="1" dirty="0">
                <a:solidFill>
                  <a:srgbClr val="FFFF00"/>
                </a:solidFill>
                <a:latin typeface="Aptos" panose="020B0004020202020204" pitchFamily="34" charset="0"/>
              </a:rPr>
              <a:t> CON/sin </a:t>
            </a:r>
            <a:r>
              <a:rPr lang="es-AR" sz="2400" b="1" dirty="0" err="1">
                <a:solidFill>
                  <a:srgbClr val="FFFF00"/>
                </a:solidFill>
                <a:latin typeface="Aptos" panose="020B0004020202020204" pitchFamily="34" charset="0"/>
              </a:rPr>
              <a:t>Stopwords</a:t>
            </a:r>
            <a:endParaRPr lang="en-US" sz="24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898BF-2730-D84C-6960-CF1233F30847}"/>
              </a:ext>
            </a:extLst>
          </p:cNvPr>
          <p:cNvSpPr txBox="1"/>
          <p:nvPr/>
        </p:nvSpPr>
        <p:spPr>
          <a:xfrm>
            <a:off x="1005753" y="4620874"/>
            <a:ext cx="104349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comparación muestra claramente cómo palabras funcionales dominan la visualización cuando no se filtran, ocultando el contenido temático real.</a:t>
            </a:r>
          </a:p>
          <a:p>
            <a:r>
              <a:rPr lang="es-ES" dirty="0"/>
              <a:t>Al eliminar </a:t>
            </a:r>
            <a:r>
              <a:rPr lang="es-ES" dirty="0" err="1"/>
              <a:t>stopwords</a:t>
            </a:r>
            <a:r>
              <a:rPr lang="es-ES" dirty="0"/>
              <a:t> estándar y específicas del dominio musical, la </a:t>
            </a:r>
            <a:r>
              <a:rPr lang="es-ES" dirty="0" err="1"/>
              <a:t>WordCloud</a:t>
            </a:r>
            <a:r>
              <a:rPr lang="es-ES" dirty="0"/>
              <a:t> resultante resalta términos clave que reflejan mejor los temas, emociones y recursos poéticos más frecuentes en las canciones de Shakira.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08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1519-02F5-C14F-81DE-E1BFDFFA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0360CB-FC79-6D02-C03A-FE691059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566" y="-1382746"/>
            <a:ext cx="8035827" cy="3302050"/>
          </a:xfrm>
        </p:spPr>
        <p:txBody>
          <a:bodyPr>
            <a:normAutofit/>
          </a:bodyPr>
          <a:lstStyle/>
          <a:p>
            <a:pPr algn="ctr"/>
            <a:r>
              <a:rPr lang="es-AR" sz="2400" b="1" dirty="0">
                <a:solidFill>
                  <a:srgbClr val="FFFF00"/>
                </a:solidFill>
                <a:latin typeface="Aptos" panose="020B0004020202020204" pitchFamily="34" charset="0"/>
              </a:rPr>
              <a:t>Comparación de vocabulario por álbum</a:t>
            </a:r>
            <a:endParaRPr lang="en-US" sz="24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4FDDF-097D-CAF4-0536-4DACF9479794}"/>
              </a:ext>
            </a:extLst>
          </p:cNvPr>
          <p:cNvSpPr txBox="1"/>
          <p:nvPr/>
        </p:nvSpPr>
        <p:spPr>
          <a:xfrm>
            <a:off x="1044663" y="5253172"/>
            <a:ext cx="104349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comparación muestra claramente cómo palabras funcionales dominan la visualización cuando no se filtran, ocultando el contenido temático real.</a:t>
            </a:r>
          </a:p>
          <a:p>
            <a:r>
              <a:rPr lang="es-ES" dirty="0"/>
              <a:t>Al eliminar </a:t>
            </a:r>
            <a:r>
              <a:rPr lang="es-ES" dirty="0" err="1"/>
              <a:t>stopwords</a:t>
            </a:r>
            <a:r>
              <a:rPr lang="es-ES" dirty="0"/>
              <a:t> estándar y específicas del dominio musical, la </a:t>
            </a:r>
            <a:r>
              <a:rPr lang="es-ES" dirty="0" err="1"/>
              <a:t>WordCloud</a:t>
            </a:r>
            <a:r>
              <a:rPr lang="es-ES" dirty="0"/>
              <a:t> resultante resalta términos clave que reflejan mejor los temas, emociones y recursos poéticos más frecuentes en las canciones de Shakira.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6320F-99E9-7EC2-E904-B2BD27FB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08" b="25958"/>
          <a:stretch>
            <a:fillRect/>
          </a:stretch>
        </p:blipFill>
        <p:spPr>
          <a:xfrm>
            <a:off x="2628550" y="642262"/>
            <a:ext cx="6934899" cy="461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6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F52DC5-E2A4-11A9-6985-C297E8A5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85966"/>
            <a:ext cx="9906000" cy="48860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4E460CE-CC9C-2A24-A392-684838EB4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566" y="-1382746"/>
            <a:ext cx="8035827" cy="3302050"/>
          </a:xfrm>
        </p:spPr>
        <p:txBody>
          <a:bodyPr>
            <a:normAutofit/>
          </a:bodyPr>
          <a:lstStyle/>
          <a:p>
            <a:pPr algn="ctr"/>
            <a:r>
              <a:rPr lang="es-AR" sz="2400" b="1" dirty="0">
                <a:solidFill>
                  <a:srgbClr val="FFFF00"/>
                </a:solidFill>
                <a:latin typeface="Aptos" panose="020B0004020202020204" pitchFamily="34" charset="0"/>
              </a:rPr>
              <a:t>DIVERSIDAD LÉXICA por álbum</a:t>
            </a:r>
            <a:endParaRPr lang="en-US" sz="24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60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53C3B-9F9E-0866-6B3D-AE2FC9FA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25E87C-0C77-BF2F-A0DD-54B1162C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566" y="-1382746"/>
            <a:ext cx="8035827" cy="3302050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Top 20 Palabras Más Relevantes</a:t>
            </a:r>
            <a:endParaRPr lang="en-US" sz="24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0BA520-849D-7068-0B7C-4BED7A66F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47" y="528387"/>
            <a:ext cx="10035905" cy="441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79332-E629-B89B-1E8D-031F8D5FE7B9}"/>
              </a:ext>
            </a:extLst>
          </p:cNvPr>
          <p:cNvSpPr txBox="1"/>
          <p:nvPr/>
        </p:nvSpPr>
        <p:spPr>
          <a:xfrm>
            <a:off x="695325" y="5272222"/>
            <a:ext cx="112585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En este caso particular, ambas técnicas resaltan palabras similares como "ir", "querer", "hacer", "haber" o "amor", indicando que estos términos no solo se repiten a lo largo del corpus, sino que también aparecen con suficiente fuerza relativa en varias canciones. Esto sugiere que el vocabulario central de las letras de Shakira está muy cohesionado, y que temas como el deseo, el amor, el poder o la acción ("hacer", "ir") son transversales a su obra.</a:t>
            </a:r>
          </a:p>
          <a:p>
            <a:pPr algn="just"/>
            <a:r>
              <a:rPr lang="es-ES" sz="1400" dirty="0"/>
              <a:t>En la visualización, el gráfico de la izquierda (</a:t>
            </a:r>
            <a:r>
              <a:rPr lang="es-ES" sz="1400" dirty="0" err="1"/>
              <a:t>BoW</a:t>
            </a:r>
            <a:r>
              <a:rPr lang="es-ES" sz="1400" dirty="0"/>
              <a:t>) muestra las palabras más repetidas del corpus, mientras que el de la derecha (TF-IDF) destaca las que resultan más relevantes en relación con su distribución en los documentos. La superposición entre ambos evidencia una fuerte consistencia estilística y semántica en las letras analizadas.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738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AA34D-260E-A4A1-448E-A296F259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63228-5C79-CE24-89DF-92CC5DF7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8D1EC3-81A3-DBF7-D49C-D8A73188D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65D30904-E41E-E957-2660-6792C2216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82003EE-CA0C-3A2F-4882-96B2EF27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7540D90-DE50-0A9C-54DB-CAC7D3676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0F3E545-27A6-E476-ED75-F417E29C2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DB8211A-074F-6A47-DE81-52A7B634D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12FB975-9CE6-B3FF-09B1-E048EF927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98509E7-DDF2-7B05-A59F-BF621BBC7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13E0AAA-F724-6DF9-4A1D-4B2DDC649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E70505A-0EF3-3CB5-E992-FA86B3D0B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387C198-962E-ACA5-A8E5-31AF617E0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CD37C6F-AD82-71F4-84D8-692DB8ACB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AB2F159A-E61F-2F14-D1BC-3B5E54CE9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04A6EC51-A3D8-862C-24D9-CFBE5D5B1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F229B27-CB3E-24DD-01BE-F72B76F36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75BFC94-ABC3-8CD5-DF5D-B4E157000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5CB31E96-F514-6FCA-157A-895EDD8A7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A09DD839-8CB8-EADC-4172-12F1396B4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B27579B-8276-16BA-BF49-0D66C7B5C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FAB5B81-BA5C-D745-D7B6-CBB3F0AD2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8B0F0AE7-4D25-69AD-4E5B-DCDD823CF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D98A2F4C-72BB-2D8D-7B6D-5940A3807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120FDE3B-B981-8913-D4F1-E9FA251D1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CB65EE2-C93D-7CBF-04EE-F5B6760A2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7B6A2D9-5947-2959-2E6F-AB699AEEC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17236DAB-A981-D222-0D91-C15D8082C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2A367293-0A7D-F0FA-EDFF-FCB20A81BC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444D369A-8421-4649-0377-60CF5D04E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391287-7859-444D-1826-FE666790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 err="1">
                <a:solidFill>
                  <a:srgbClr val="FFFF00"/>
                </a:solidFill>
              </a:rPr>
              <a:t>Heatmap</a:t>
            </a:r>
            <a:r>
              <a:rPr lang="es-ES" dirty="0">
                <a:solidFill>
                  <a:srgbClr val="FFFF00"/>
                </a:solidFill>
              </a:rPr>
              <a:t> de Similitud entre Álbumes de Shakira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8D63695B-57CD-BF8E-8CAE-89A8FD4F9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DF80DF-17BD-6AF1-0333-510B820C6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610" y="804930"/>
            <a:ext cx="6067438" cy="533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276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C16-10DC-9EFB-73FE-6967EC2C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4F752C-E296-378C-2EC3-882677BF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95E01A-1BDA-6122-722A-D4AE81B23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79F7FB81-724D-90A2-BC20-B9CDE2172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D2EF5F74-84AC-0C58-4CC0-EEE6595FA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0742722-59BE-DE1D-780C-DF4125984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A0C6BA3B-EABC-2DF8-F09D-1F85782DC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6714C80-DF21-B8AF-0692-4F5A87A50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C0C09E0-09CB-3997-C858-92DE030B9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9C223D95-B175-CCEC-B1BF-5C0156CDD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AF784D4-5AF0-FB09-C533-01B3413BD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0278C04-6C1C-81DD-2132-FDF4EA6B01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90F38-86BE-7C90-9D88-4B99937D4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53D15F7-3193-A102-C572-7184D52B8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B5014F12-3832-A4AA-26E6-BE0AFBA02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E32E11F-FED7-068F-7814-385EBF092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1E6C49-6FEA-C31A-582D-A9F2899BF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B978E47C-326D-EDF6-2245-F288C305E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65E4DE1-BBB3-F3FA-2BA0-D240687F7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B32E96E1-AE3C-10D5-61BE-76D04747D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53F873-764F-8E18-04AD-10543E863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41013C1-A3F8-7CFA-1202-79ACAC31F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A5A95AC2-3B23-DF88-EFDD-6F4210039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675CFB1-1FF8-14F0-B20E-728EDA441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83BAEF4-8CEB-6BB9-F1DE-2093E5339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1B22CF26-F095-A62D-B05A-0B3D7E0B7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F287E010-40CD-4F5F-0B43-3B3AFC55B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291CD0D2-DE8A-AE96-46DB-DFC01C17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E8F9BB2-F73D-9892-3FA9-A857CD16F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AC44C403-B837-1D70-FC26-5032A955E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7C2E18-1FFD-2453-E228-C65CA7B7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AR" b="1" dirty="0">
                <a:solidFill>
                  <a:srgbClr val="FFFF00"/>
                </a:solidFill>
                <a:latin typeface="Algerian" panose="04020705040A02060702" pitchFamily="82" charset="0"/>
              </a:rPr>
              <a:t>INTERPRETACIONES MAS IMPORTANTES</a:t>
            </a:r>
            <a:endParaRPr lang="en-US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6CC62E0D-C5B6-48D5-6D4E-757DAA6C5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54301-56C8-7C21-317D-0824DA09C58D}"/>
              </a:ext>
            </a:extLst>
          </p:cNvPr>
          <p:cNvSpPr txBox="1"/>
          <p:nvPr/>
        </p:nvSpPr>
        <p:spPr>
          <a:xfrm>
            <a:off x="4629844" y="1331357"/>
            <a:ext cx="7434263" cy="418576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El análisis del corpus revela una recurrencia temática centrada en las emociones, el deseo, las relaciones y la introspección. Palabras como "ir", "querer", "hacer", "haber", "amor", "día" y "vida“ dominan tanto en frecuencia absoluta (</a:t>
            </a:r>
            <a:r>
              <a:rPr lang="es-ES" sz="1400" dirty="0" err="1">
                <a:solidFill>
                  <a:srgbClr val="FFFF00"/>
                </a:solidFill>
              </a:rPr>
              <a:t>BoW</a:t>
            </a:r>
            <a:r>
              <a:rPr lang="es-ES" sz="1400" dirty="0">
                <a:solidFill>
                  <a:srgbClr val="FFFF00"/>
                </a:solidFill>
              </a:rPr>
              <a:t>) como en relevancia relativa (TF-IDF). Esto sugiere que el vocabulario de Shakira gira en torno a verbos de acción y sentimientos intensos, representando una lírica comprometida con el relato de experiencias humanas universales.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A diferencia de lo esperado, no se observaron grandes diferencias entre las palabras más frecuentes (</a:t>
            </a:r>
            <a:r>
              <a:rPr lang="es-ES" sz="1400" dirty="0" err="1">
                <a:solidFill>
                  <a:srgbClr val="FFFF00"/>
                </a:solidFill>
              </a:rPr>
              <a:t>BoW</a:t>
            </a:r>
            <a:r>
              <a:rPr lang="es-ES" sz="1400" dirty="0">
                <a:solidFill>
                  <a:srgbClr val="FFFF00"/>
                </a:solidFill>
              </a:rPr>
              <a:t>) y las más distintivas (TF-IDF), lo cual indica que existe una coherencia estilística muy marcada en todo el corpus: las palabras más usadas también resultan relevantes dentro de cada canción individual.</a:t>
            </a:r>
          </a:p>
          <a:p>
            <a:pPr algn="just"/>
            <a:endParaRPr lang="es-ES" sz="1400" dirty="0">
              <a:solidFill>
                <a:srgbClr val="FFFF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El </a:t>
            </a:r>
            <a:r>
              <a:rPr lang="es-ES" sz="1400" dirty="0" err="1">
                <a:solidFill>
                  <a:srgbClr val="FFFF00"/>
                </a:solidFill>
              </a:rPr>
              <a:t>heatmap</a:t>
            </a:r>
            <a:r>
              <a:rPr lang="es-ES" sz="1400" dirty="0">
                <a:solidFill>
                  <a:srgbClr val="FFFF00"/>
                </a:solidFill>
              </a:rPr>
              <a:t> de similitud mostró clústeres claros por álbum, evidenciando que Shakira mantiene una línea temática y léxica estable en cada producción discográfica. Esto se nota especialmente en los primeros álbumes, donde el contenido es más introspectivo y poético.</a:t>
            </a:r>
          </a:p>
          <a:p>
            <a:pPr algn="just"/>
            <a:endParaRPr lang="es-ES" sz="1400" dirty="0">
              <a:solidFill>
                <a:srgbClr val="FFFF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También se identificaron canciones </a:t>
            </a:r>
            <a:r>
              <a:rPr lang="es-ES" sz="1400" dirty="0" err="1">
                <a:solidFill>
                  <a:srgbClr val="FFFF00"/>
                </a:solidFill>
              </a:rPr>
              <a:t>outliers</a:t>
            </a:r>
            <a:r>
              <a:rPr lang="es-ES" sz="1400" dirty="0">
                <a:solidFill>
                  <a:srgbClr val="FFFF00"/>
                </a:solidFill>
              </a:rPr>
              <a:t> con poca similitud con el resto, posiblemente debido a temáticas singulares, colaboraciones, o cambios estilísticos (como en "Shakira </a:t>
            </a:r>
            <a:r>
              <a:rPr lang="es-ES" sz="1400" dirty="0" err="1">
                <a:solidFill>
                  <a:srgbClr val="FFFF00"/>
                </a:solidFill>
              </a:rPr>
              <a:t>Bzrp</a:t>
            </a:r>
            <a:r>
              <a:rPr lang="es-ES" sz="1400" dirty="0">
                <a:solidFill>
                  <a:srgbClr val="FFFF00"/>
                </a:solidFill>
              </a:rPr>
              <a:t> Music </a:t>
            </a:r>
            <a:r>
              <a:rPr lang="es-ES" sz="1400" dirty="0" err="1">
                <a:solidFill>
                  <a:srgbClr val="FFFF00"/>
                </a:solidFill>
              </a:rPr>
              <a:t>Sessions</a:t>
            </a:r>
            <a:r>
              <a:rPr lang="es-ES" sz="1400" dirty="0">
                <a:solidFill>
                  <a:srgbClr val="FFFF00"/>
                </a:solidFill>
              </a:rPr>
              <a:t>" o "La Bicicleta"). Estas canciones permiten detectar momentos de innovación o transición artística dentro de su carrera.</a:t>
            </a:r>
          </a:p>
          <a:p>
            <a:pPr algn="just"/>
            <a:endParaRPr lang="es-ES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06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9C2A8-F1EC-525F-EDF5-584C1AF2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76CD87-AE47-5584-0457-D2636D66E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61F217-4023-B46D-3287-B558E1559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1AB47244-A5D6-DFED-D75D-0C81812BC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61141EB-7871-632F-2D9A-9EAFDAA0B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59E8AD5-AA63-27B4-CDC0-D670F775D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F78A9CB-5A39-BF56-2AC0-1BD22F600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B49EADB-682A-1FA4-AAA9-1081E44D0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5472655-EF6A-6FAA-9490-81311754D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A01E886-C963-1740-3BD2-BF23FEFE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0716EFE-3304-5412-B7A0-53D4E69D1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EA0D131C-3E41-BC67-E4EB-AFF89E32C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3A17D7B6-F256-9DDC-A5D3-7165F108B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2234B56-E216-957C-D44C-53DDB0DB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368C05E1-FE37-BE4D-03F3-7C61550C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AD8E5A7-6356-B65E-B6DC-C2E663579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C9C31A5-93AB-0921-775F-242BA4F60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F4712FE-90F6-840B-4DD2-AE77AFB7B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5D993CFA-FE13-F218-14DB-5F8F78959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63480EB6-0000-4E30-1EFB-7B1501012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8F27AED7-F3CF-C89C-E5FD-34CB72CF3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BDB17B7-9308-A16C-4C82-56AF1C81C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58A05F8-2819-CCCB-36E3-46945EF89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ABF26BF-363E-7681-BF3C-D30F0C94C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6D7D9C9B-75CB-FEF5-A495-CE34932D1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6499BAA7-AFCE-0E2B-4151-27A3F8FFE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1F3CE544-CA3C-715B-BA8E-753B7F361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B132AEEA-954C-5670-C76C-27C6EF351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B88A7ABC-C5CC-868A-C8F9-805C9D232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24B999A0-4DF8-8649-19BA-6A3E1E5EC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6648E6-43E4-50B3-0ED3-6FFE9314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¿Qué limitaciones ves en este enfoque?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AEBE44C-F465-D526-2137-29338F57A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F8B2C-3B05-0680-28B9-A578E4D2EB0E}"/>
              </a:ext>
            </a:extLst>
          </p:cNvPr>
          <p:cNvSpPr txBox="1"/>
          <p:nvPr/>
        </p:nvSpPr>
        <p:spPr>
          <a:xfrm>
            <a:off x="4606034" y="1568451"/>
            <a:ext cx="74342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1400" dirty="0">
              <a:solidFill>
                <a:srgbClr val="FFFF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El enfoque ignora completamente el orden de las palabras, lo que limita el análisis gramatical o narrativo.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No se capta el contexto ni los matices semánticos profundos (por ejemplo, no se relacionan sinónimos).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No se consideran elementos musicales como tono, ritmo o melodía, que son fundamentales en canciones.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FFFF00"/>
                </a:solidFill>
              </a:rPr>
              <a:t>Metáforas y figuras poéticas complejas son tratadas como literalidades, lo cual empobrece el análisis semántico.</a:t>
            </a:r>
          </a:p>
        </p:txBody>
      </p:sp>
    </p:spTree>
    <p:extLst>
      <p:ext uri="{BB962C8B-B14F-4D97-AF65-F5344CB8AC3E}">
        <p14:creationId xmlns:p14="http://schemas.microsoft.com/office/powerpoint/2010/main" val="3627606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98E82B-FDC1-214F-76EA-81C3A88D4ADC}"/>
              </a:ext>
            </a:extLst>
          </p:cNvPr>
          <p:cNvSpPr txBox="1"/>
          <p:nvPr/>
        </p:nvSpPr>
        <p:spPr>
          <a:xfrm>
            <a:off x="876300" y="4563370"/>
            <a:ext cx="10706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Se aplicó reducción de dimensionalidad (PCA y t-SNE) a los vectores de </a:t>
            </a:r>
            <a:r>
              <a:rPr lang="es-ES" sz="1400" dirty="0" err="1"/>
              <a:t>embeddings</a:t>
            </a:r>
            <a:r>
              <a:rPr lang="es-ES" sz="1400" dirty="0"/>
              <a:t> para representar visualmente las canciones en un espacio 2D. Esta técnica permite observar agrupamientos o patrones que no serían evidentes en el espacio original de 300 dimensiones.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>En el gráfico generado, se identificaron algunos agrupamientos naturales que coinciden parcialmente con los álbumes o años de publicación, lo cual sugiere una consistencia semántica en ciertas etapas de la carrera de Shakira. En otros casos, la dispersión indica mayor variabilidad estilística.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>Esta visualización resulta útil para el análisis exploratorio de contenido y para futuras tareas de clasificación o </a:t>
            </a:r>
            <a:r>
              <a:rPr lang="es-ES" sz="1400" dirty="0" err="1"/>
              <a:t>clustering</a:t>
            </a:r>
            <a:r>
              <a:rPr lang="es-ES" sz="1400" dirty="0"/>
              <a:t>.</a:t>
            </a:r>
          </a:p>
          <a:p>
            <a:pPr algn="just"/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AA714-52B4-1FA2-0180-28D018D9EB1C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802597"/>
            <a:ext cx="548640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8F7A1-4CAE-2AFF-EE71-3C79DD54F98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2598"/>
            <a:ext cx="5486400" cy="36576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23E15D-983F-6F31-B2ED-CCADD0C3E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566" y="-1382746"/>
            <a:ext cx="8035827" cy="3302050"/>
          </a:xfrm>
        </p:spPr>
        <p:txBody>
          <a:bodyPr>
            <a:normAutofit/>
          </a:bodyPr>
          <a:lstStyle/>
          <a:p>
            <a:pPr algn="ctr"/>
            <a:r>
              <a:rPr lang="es-AR" sz="2400" b="1" dirty="0">
                <a:solidFill>
                  <a:srgbClr val="FFFF00"/>
                </a:solidFill>
                <a:latin typeface="Aptos" panose="020B0004020202020204" pitchFamily="34" charset="0"/>
              </a:rPr>
              <a:t>Visualización de </a:t>
            </a:r>
            <a:r>
              <a:rPr lang="es-AR" sz="2400" b="1" dirty="0" err="1">
                <a:solidFill>
                  <a:srgbClr val="FFFF00"/>
                </a:solidFill>
                <a:latin typeface="Aptos" panose="020B0004020202020204" pitchFamily="34" charset="0"/>
              </a:rPr>
              <a:t>embeddings</a:t>
            </a:r>
            <a:endParaRPr lang="en-US" sz="24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800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704A8-BE1D-BC74-3A63-BC67282C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BDC7AD-175F-94B1-EE9F-2E3032ED5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C2B5DF-4C03-A519-68BA-B8CAD5E19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1D19C6E8-4A34-0B5E-FCAA-DF074A145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2ABC741-E089-F571-2822-6F93E6873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37A593E-46C7-737B-52B3-97F41DD7D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E40CD13-B3C1-89A8-7B67-946984EC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5575411F-6CE4-9733-7AA2-C5DCBA437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50C85D3-7583-B7C6-2F85-C46F7732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2327AFE-1B65-715D-6D8A-D69CAAC35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BE73362-F0BE-1949-FDEC-A8DAB55F5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79C6140-5C27-4A8B-7118-A3FA8BCF7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AB31399-57A7-6C9F-2AA2-D5F8B60C6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3574CA5-1169-B664-3196-2F1B823AF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5E23CD7E-3E97-42BA-1A06-54D4BA889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D243910-1A86-BDCB-F3A9-521321F91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65BD021-20B7-AD27-6BB9-F4783E6A3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8140DBD-814A-DF8B-1E5D-826232CD4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550C0DF7-3A9A-BC53-1EA1-C5592DA43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1EBF6ECD-9806-1F50-43FA-18F30C86F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5190018C-E02A-8BDD-F687-518058F6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D9E4499-C463-1CD4-30EB-95C029FE2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EEBE0DEF-4060-0151-100B-27D4D021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66C8D9A5-FFC9-2E0A-9A24-DF3850F5C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44CC4A-CBCB-F299-C9F7-A68AE45A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89879517-F7DE-C77D-158B-905F6F068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E464664A-3295-90BB-373D-0257A057C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28DE79E7-E59C-FB30-ACD1-65DBDCC2B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F9221F61-04AF-1866-EF44-67DFB635F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0DB5F98A-5AD5-655A-384B-FD26C6DA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CA2E6AB-E699-87AF-096F-83C36235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Hallazgos principales sobre el corpus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2780CD78-F912-6FF6-3883-2CA0704A3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E3CFC-FA6B-6267-BFCB-E48B83E221AF}"/>
              </a:ext>
            </a:extLst>
          </p:cNvPr>
          <p:cNvSpPr txBox="1"/>
          <p:nvPr/>
        </p:nvSpPr>
        <p:spPr>
          <a:xfrm>
            <a:off x="4715570" y="380265"/>
            <a:ext cx="744309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letras tienen una alta carga emocional negativa o melancólica, especialmente en los álbumes más antiguos.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 pesar de su fama global, Shakira no menciona muchas personas o lugares específicos en la mayoría de sus canciones, salvo en eventos especiales como los mundiales.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uso de sustantivos y adjetivos es predominante, lo que refuerza un estilo descriptivo y simbólico.</a:t>
            </a:r>
          </a:p>
          <a:p>
            <a:endParaRPr lang="es-ES" sz="1600" dirty="0"/>
          </a:p>
          <a:p>
            <a:r>
              <a:rPr lang="es-ES" sz="1600" dirty="0"/>
              <a:t>¿Se confirmaron mis hipótesis iniciales?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Sí, en parte. Yo suponía que: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corpus tendría un lenguaje poético y emocional → ✅ Confirmado por el POS </a:t>
            </a:r>
            <a:r>
              <a:rPr lang="es-ES" sz="1600" dirty="0" err="1"/>
              <a:t>tagging</a:t>
            </a:r>
            <a:r>
              <a:rPr lang="es-ES" sz="1600" dirty="0"/>
              <a:t> y análisis de sentimiento.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Habría referencias frecuentes a Colombia u otros países → ❌ No tan frecuente como esperaba (aunque sí en canciones puntuales).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¿Qué me sorprendió más?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hecho de que las canciones más recientes muestran una tendencia hacia un lenguaje más positivo, lo cual puede reflejar una evolución artística.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análisis semántico con </a:t>
            </a:r>
            <a:r>
              <a:rPr lang="es-ES" sz="1600" dirty="0" err="1"/>
              <a:t>embeddings</a:t>
            </a:r>
            <a:r>
              <a:rPr lang="es-ES" sz="1600" dirty="0"/>
              <a:t> mostró que canciones de distintos álbumes pueden estar estilísticamente más cerca entre sí que canciones del mismo álbum.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Algunas canciones con tono sonoro alegre, como “Loca”, tienen en realidad letras gramaticalmente simples y emocionalmente neutras, lo que no hubiera detectado sin análisis computacional.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092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0EACC-64B1-6652-D55D-BAB61887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B57A84-5BCC-95C0-C53B-6480933B2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5FD9A4-FAAF-26FD-49E1-20F1E57CA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0028EF1F-FC47-3D45-2502-25D0457D1A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DBDAD388-A39B-C372-5F9E-F1A4F6554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AEB56F8-702C-BEC3-3936-8E85222C0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88EAAAA-3B19-0EEB-9621-2F2F741C6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42FA15FE-F5AB-2C33-879C-B1D9A4FF8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CCD77018-21E4-530B-13E5-3D914C49B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9653F62F-CE00-CBB4-319A-5CF02DC57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A85F4C97-E976-6915-01A0-9FEF3A55B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31BB0FE2-873D-F91C-6EA9-66FAA29E0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40BE3D2-EC22-3E75-E7F4-A020016AD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2C5DA6C1-6095-104D-D132-157F9C90B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B63BAD7A-C713-3FCE-1F5F-A0F07873DC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2B14B16F-CD72-C0F4-58C1-9CBF771DE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8BDC82E-2740-6FDB-4C2A-AF89F04C1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783560-9F78-FF2B-B525-E5D5171C3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DBBA3D8-1F57-D513-70D3-C7DD10566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DE4A41A0-0CBA-DBA1-A0A3-69623B805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6F7A0B6-F745-3B0D-EBC6-5684210F0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5A79400-FD33-C23A-BBAC-68C7B1459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5925FD9-A490-7AF1-17E4-67BA25388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034BCED0-FAB5-1FF3-9044-CDD75FAFC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A2064168-FE5D-80D4-A2D2-1201E338B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723FB5EE-6E93-9451-1599-38833112A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30226E0D-DD1A-9B0B-F6B9-880094680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F483BE65-77FC-6522-1729-4DF910BC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1E9602B-6216-C559-A379-749A316479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2AE6DD0-1C5C-B11A-1425-9301CA561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04FC82-8420-9B62-3BDD-50162DB8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Comparación de métodos utilizados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133DD488-7A52-0D75-61AC-EDC679613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71593-E37D-BECE-7E13-51CC2FA6FFF3}"/>
              </a:ext>
            </a:extLst>
          </p:cNvPr>
          <p:cNvSpPr txBox="1"/>
          <p:nvPr/>
        </p:nvSpPr>
        <p:spPr>
          <a:xfrm>
            <a:off x="4696520" y="193864"/>
            <a:ext cx="744309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¿Qué técnica fue más útil para este tipo de corpus?</a:t>
            </a:r>
          </a:p>
          <a:p>
            <a:endParaRPr lang="es-ES" sz="1600" dirty="0"/>
          </a:p>
          <a:p>
            <a:r>
              <a:rPr lang="es-ES" sz="1600" dirty="0"/>
              <a:t>En mi caso, los </a:t>
            </a:r>
            <a:r>
              <a:rPr lang="es-ES" sz="1600" dirty="0" err="1"/>
              <a:t>embeddings</a:t>
            </a:r>
            <a:r>
              <a:rPr lang="es-ES" sz="1600" dirty="0"/>
              <a:t> (</a:t>
            </a:r>
            <a:r>
              <a:rPr lang="es-ES" sz="1600" dirty="0" err="1"/>
              <a:t>spaCy</a:t>
            </a:r>
            <a:r>
              <a:rPr lang="es-ES" sz="1600" dirty="0"/>
              <a:t> + BERT) fueron la técnica más útil, porque me permitieron: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Capturar significados más sutiles y contextuales de las letras (por ejemplo, sinónimos o expresiones con diferentes matices emocionales).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Medir similitudes semánticas entre canciones, incluso cuando no comparten palabras exactas.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Aplicar modelos </a:t>
            </a:r>
            <a:r>
              <a:rPr lang="es-ES" sz="1600" dirty="0" err="1"/>
              <a:t>preentrenados</a:t>
            </a:r>
            <a:r>
              <a:rPr lang="es-ES" sz="1600" dirty="0"/>
              <a:t> en español, como para análisis de sentimientos y visualizaciones en 2D.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r>
              <a:rPr lang="es-ES" sz="1600" dirty="0"/>
              <a:t>¿Cuándo usaría </a:t>
            </a:r>
            <a:r>
              <a:rPr lang="es-ES" sz="1600" dirty="0" err="1"/>
              <a:t>BoW</a:t>
            </a:r>
            <a:r>
              <a:rPr lang="es-ES" sz="1600" dirty="0"/>
              <a:t> / TF-IDF vs </a:t>
            </a:r>
            <a:r>
              <a:rPr lang="es-ES" sz="1600" dirty="0" err="1"/>
              <a:t>embeddings</a:t>
            </a:r>
            <a:r>
              <a:rPr lang="es-ES" sz="1600" dirty="0"/>
              <a:t>? Técnica Cuándo la usaría </a:t>
            </a:r>
            <a:r>
              <a:rPr lang="es-ES" sz="1600" dirty="0" err="1"/>
              <a:t>BoW</a:t>
            </a:r>
            <a:r>
              <a:rPr lang="es-ES" sz="1600" dirty="0"/>
              <a:t> / TF-IDF Cuando necesito analizar la frecuencia literal de palabras, por ejemplo: encontrar las palabras más repetidas, construir nubes de palabras, o comparar estilo entre textos. </a:t>
            </a:r>
            <a:r>
              <a:rPr lang="es-ES" sz="1600" dirty="0" err="1"/>
              <a:t>Embeddings</a:t>
            </a:r>
            <a:r>
              <a:rPr lang="es-ES" sz="1600" dirty="0"/>
              <a:t> Cuando quiero analizar significados y relaciones semánticas, como similitud entre documentos, detección de temas, o visualización en espacios vectoriales. </a:t>
            </a:r>
          </a:p>
          <a:p>
            <a:endParaRPr lang="es-ES" sz="1600" dirty="0"/>
          </a:p>
          <a:p>
            <a:r>
              <a:rPr lang="es-ES" sz="1600" dirty="0"/>
              <a:t>Conclusión personal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técnica me aportó una perspectiva distinta del corpus.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BoW</a:t>
            </a:r>
            <a:r>
              <a:rPr lang="es-ES" sz="1600" dirty="0"/>
              <a:t>/TF-IDF me ayudó a entender la superficie del lenguaje (frecuencias, estilos).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Embeddings</a:t>
            </a:r>
            <a:r>
              <a:rPr lang="es-ES" sz="1600" dirty="0"/>
              <a:t> me permitieron ir más allá, explorando la estructura conceptual y emocional de las canciones.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En conjunto, ambas estrategias se complementaron muy bien y enriquecieron el análisis.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948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7F2A8-3125-DF21-D940-1479E968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98B944-79DF-D6E0-ABC2-C6DE150FF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48A4FB-B506-697D-800C-0B95231D6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D754870-DA6F-441C-2F1C-0377E220D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D514C390-C858-5270-CBD7-CD74A195F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5D72C67-DB8C-4D96-2BC4-075F0E01E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DC52ED1-0559-40BA-61B1-19B6D5FC0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4BAA7D8-5669-3DE3-DD44-7DE5C8A0C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EB1789E-E53C-2AF4-4943-1EC77C2C5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E041B01-651F-3F8C-6BF7-21FA61616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BE557BF-D40E-241C-BBA1-300D0D61A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7013979-81C6-21B2-A095-01BFD4C60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540180E-0B7F-76B0-D1BC-1FEB54727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C9971B-F2EB-3BA8-4952-5884643F6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2AED029D-90A1-5673-7C7C-6A84CF82F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0D366751-D76B-5089-8F77-3811EA1F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BC63A0A-EDE1-9B8B-C4B8-F9D6E68B1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3759471A-3E71-2953-C1C9-59818AF24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21A5C59-9263-0884-C1DC-4A737B67E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2FD378C-EA34-5AC0-3653-DC905C18D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5461D88A-EDB6-BA76-F7BF-1A007780A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F46C24B-E0E1-F85C-6FBE-575E9B77A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C6BD8F7-10F8-BD2B-30A2-97F933A00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37D8A3D0-A61A-E3FE-6350-65D27C650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B478026-6065-3BA9-15A8-53EEE40D0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9BE2642E-10AF-4B1A-B395-E6CB58F34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68EDF4B6-CADC-100C-4119-A93F0DFE6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37A9BB5D-CCA2-C8FB-B13C-D2C4EEC18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61727705-168C-F62D-BB87-613FFFEBA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B2D22814-63A7-1F3C-5862-A43EC326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6CEE6F-BFAC-5C10-010A-F005A5CF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Limitaciones encontradas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2BC472E4-BBEF-CD76-FEFF-69786E67D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A4696-6B5F-77C4-3FBD-48F584937274}"/>
              </a:ext>
            </a:extLst>
          </p:cNvPr>
          <p:cNvSpPr txBox="1"/>
          <p:nvPr/>
        </p:nvSpPr>
        <p:spPr>
          <a:xfrm>
            <a:off x="4706046" y="761207"/>
            <a:ext cx="74430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¿Qué no pude capturar con las técnicas usadas?</a:t>
            </a:r>
          </a:p>
          <a:p>
            <a:pPr algn="just"/>
            <a:r>
              <a:rPr lang="es-ES" dirty="0"/>
              <a:t>Las técnicas aplicadas (</a:t>
            </a:r>
            <a:r>
              <a:rPr lang="es-ES" dirty="0" err="1"/>
              <a:t>BoW</a:t>
            </a:r>
            <a:r>
              <a:rPr lang="es-ES" dirty="0"/>
              <a:t>, TF-IDF, </a:t>
            </a:r>
            <a:r>
              <a:rPr lang="es-ES" dirty="0" err="1"/>
              <a:t>embeddings</a:t>
            </a:r>
            <a:r>
              <a:rPr lang="es-ES" dirty="0"/>
              <a:t>) no permiten entender ironía, sarcasmo o ambigüedad emocional, aspectos muy comunes en letras de canciones.</a:t>
            </a:r>
          </a:p>
          <a:p>
            <a:pPr algn="just"/>
            <a:r>
              <a:rPr lang="es-ES" dirty="0"/>
              <a:t>El análisis gramatical y de sentimientos no considera el acompañamiento musical, que influye directamente en la interpretación emocional del mensaje.</a:t>
            </a:r>
          </a:p>
          <a:p>
            <a:pPr algn="just"/>
            <a:r>
              <a:rPr lang="es-ES" dirty="0"/>
              <a:t>Las entidades nombradas fueron limitadas; en letras poéticas como las de Shakira, a veces los nombres no están explícitos, lo que dificulta su detección automática.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¿Qué aspectos quedaron sin analizar?</a:t>
            </a:r>
          </a:p>
          <a:p>
            <a:pPr algn="just"/>
            <a:r>
              <a:rPr lang="es-ES" dirty="0"/>
              <a:t>No se abordaron aspectos métricos o rítmicos del texto (como la repetición, estrofas o estribillos).</a:t>
            </a:r>
          </a:p>
          <a:p>
            <a:pPr algn="just"/>
            <a:r>
              <a:rPr lang="es-ES" dirty="0"/>
              <a:t>No exploré análisis de temas (</a:t>
            </a:r>
            <a:r>
              <a:rPr lang="es-ES" dirty="0" err="1"/>
              <a:t>topic</a:t>
            </a:r>
            <a:r>
              <a:rPr lang="es-ES" dirty="0"/>
              <a:t> </a:t>
            </a:r>
            <a:r>
              <a:rPr lang="es-ES" dirty="0" err="1"/>
              <a:t>modeling</a:t>
            </a:r>
            <a:r>
              <a:rPr lang="es-ES" dirty="0"/>
              <a:t>) ni agrupamientos automáticos por estilos líricos o conceptuales.</a:t>
            </a:r>
          </a:p>
          <a:p>
            <a:pPr algn="just"/>
            <a:r>
              <a:rPr lang="es-ES" dirty="0"/>
              <a:t>No comparé directamente este corpus con el de otro artista para evaluar similitudes o diferencias estilísticas, lo cual habría sido enriquecedor.</a:t>
            </a:r>
          </a:p>
        </p:txBody>
      </p:sp>
    </p:spTree>
    <p:extLst>
      <p:ext uri="{BB962C8B-B14F-4D97-AF65-F5344CB8AC3E}">
        <p14:creationId xmlns:p14="http://schemas.microsoft.com/office/powerpoint/2010/main" val="1348187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F0B41-9BF2-4515-68B8-9C87B0E2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00F3CF-EE58-B65F-240B-177C59D7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74F648-D7C0-162B-4316-F94F069E7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B968D0B2-3A29-A2D4-C023-25F0F6353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A15EBDE-855E-77FA-14C1-A219CEBF3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2DE818-8FF8-D6F3-2C34-B1C4C36E9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1E6B9CE-7CBA-8F6A-1587-0F0DB2502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FD28DEE-71BA-78CF-A481-D53D89938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31C51F3-5B1C-FDA7-6C18-6E184990B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E864293-4A85-4A73-ACA4-556AAA463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4D2ACA84-ED56-6840-AA35-B4080C073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0E7899F3-12AD-9271-1BFF-74DE4838B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C1EF302-77A5-D938-6C54-A42143551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EB23783D-0A14-EBF7-B621-A7DF81907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9606724-A6A6-2DB4-2864-BFF023F05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B9C2DE85-007F-C870-6F39-DABDF3C2A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1C0AB30-BB42-EEBC-33FE-93ED45B39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A710BC5-FC3B-0C00-2510-5A5BF4813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C79796D-F510-66FA-C970-3E8366522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AD5657F8-FAAC-3A1A-E905-559F5F706D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303F5836-B458-6252-E767-89B038769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3EF0652-5DB3-0F99-1F76-4FBE8BBD3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5FC6C23-5DA5-3FFA-16DD-9EFE8B01F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F3F5CF0-D42F-BA9E-C37A-7A06F94F2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4876DD81-EEB0-04FB-F118-4E189D1EB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CD8C127-C9A1-90AB-AFD5-FABB64EE5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888B8C3B-5B31-4E63-50D0-BD776798D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C664ED80-0075-FC10-147D-2F4F6246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1B6E63EE-45B5-7E47-D03B-E849E896C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B375594E-D42D-A90C-EF26-CBB440FFA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7D743E-B43F-A0F3-5D92-4E52BEF8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Aplicaciones potenciales del análisis 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A136CAE7-6938-EC27-7946-D7377E412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2C8A2-16A7-7DE8-8652-7EDE2D81F0F1}"/>
              </a:ext>
            </a:extLst>
          </p:cNvPr>
          <p:cNvSpPr txBox="1"/>
          <p:nvPr/>
        </p:nvSpPr>
        <p:spPr>
          <a:xfrm>
            <a:off x="4706046" y="385922"/>
            <a:ext cx="744309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Industria musical: ayudar a compositores y productores a analizar tendencias líricas, emociones dominantes y estilo de escritura.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Plataformas de </a:t>
            </a:r>
            <a:r>
              <a:rPr lang="es-ES" dirty="0" err="1"/>
              <a:t>streaming</a:t>
            </a:r>
            <a:r>
              <a:rPr lang="es-ES" dirty="0"/>
              <a:t>: mejorar la recomendación de canciones por emociones o temáticas, más allá de género musical.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Análisis cultural: estudiar la evolución del discurso artístico y emocional de una artista a lo largo del tiempo.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/>
          </a:p>
          <a:p>
            <a:pPr algn="just"/>
            <a:r>
              <a:rPr lang="es-ES" dirty="0"/>
              <a:t>¿Qué valor agregado proporciona?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Permite cuantificar y visualizar patrones que normalmente se interpretan de forma subjetiva.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Ofrece una herramienta para el análisis crítico de contenido en letras de canciones.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Da soporte para investigaciones en lingüística computacional, musicología y procesamiento del lenguaje natural (PLN).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¿Qué otros análisis me gustaría hacer en el futuro?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Comparar el corpus con artistas de otras regiones o estilos (</a:t>
            </a:r>
            <a:r>
              <a:rPr lang="es-ES" dirty="0" err="1"/>
              <a:t>ej</a:t>
            </a:r>
            <a:r>
              <a:rPr lang="es-ES" dirty="0"/>
              <a:t>: Taylor Swift, Rosalía).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Analizar cambios de estilo antes y después de eventos biográficos importantes de la artista.</a:t>
            </a:r>
          </a:p>
        </p:txBody>
      </p:sp>
    </p:spTree>
    <p:extLst>
      <p:ext uri="{BB962C8B-B14F-4D97-AF65-F5344CB8AC3E}">
        <p14:creationId xmlns:p14="http://schemas.microsoft.com/office/powerpoint/2010/main" val="256049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FF51D-D7A5-1F6B-4960-34756098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6E3611-67AF-6A41-F201-D80DAFB3E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AA49CC-069F-03B9-E539-777153258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B05A8A54-78F2-C734-7E0B-31E7D1991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889342C-028F-2618-31E5-2F7928AE4E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5990777-BB4F-4B3E-89EC-5F740307B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00637F5D-7E15-2288-3309-22885166B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CF3BD6-26D4-AECE-66FF-BFA858907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C3D24D9-F38D-352E-7402-090373943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C13B4D-F3FE-DD34-AFEA-F64C18D54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BBADC13-A6AF-0D2A-00C6-69E629116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41EC1EB-3BA3-6930-FAD6-919015F1F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63FABAF3-7521-9A7A-A0DB-4A996EF00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1089E7AF-D41D-9EE0-79E1-0F30116A1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BB1587CE-1131-69A6-241D-A174CF922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F9A360E-DCA7-9A6E-1618-92F6577C4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4598272-EF34-B3B6-F96D-746E5644A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2F725A4D-0557-DFBF-9A33-801C1B504F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F46E052-1041-1BA3-EAE6-2402B2842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599503DB-1221-4C29-64F9-1A4E6A4AA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0B890DD1-ED48-11F9-5BCA-A70536361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30381F14-AC34-8DC1-F504-80B7EE562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C8B4BA9D-F00B-9167-0A55-8CEE7E424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D49A02AB-CE27-A0F5-B726-FF073BE5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2E4A2522-6500-C2C1-EA4E-B9754745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047AD0A9-CE20-5B2C-720D-9F0D49CF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9B02B45C-154B-835E-112B-4348E9E63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BE784F9-040A-BDEE-46F6-9D5665D3E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D2947721-4F0A-49EB-137A-9580B78B6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AEF53169-DA91-7350-1262-0D87537DE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3940A5-2B88-B446-A8AD-349E47D3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Distribución general de categorías gramaticales en el corpus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C0EAB9CF-1EB3-D312-9E57-BC59C94C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06737-60D5-4D6A-A011-CFE0CFD26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008" y="1611313"/>
            <a:ext cx="7109693" cy="421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13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7A54D-E373-4DBA-9D88-CE02DCC4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0CEFD-B4AB-3CCB-1569-6A2E77356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7D2726-5D84-57F8-F18A-7DB7AB4CA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A1AFA788-CDAC-1252-9909-3C4BF40E5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7676F60-4DC8-6DC3-D292-EBC95BFA1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CB06044-02EE-374F-B3E4-ACB3E1AAE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51442DF2-5327-FD8E-5AAC-B553A1BB1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277BE64-A1EF-867D-7D99-2D2513E16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EC18B05-2AE7-B3C9-7402-CDEB7D8FC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31973B9-CA03-6DEF-C445-CCCC765D1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16EA589-FE8D-18C9-7CBD-66EC604BCE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7263369-AB7E-0C06-D964-6570C12FA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F9C4A85-EDF5-2F27-AE48-4F55EA32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2F82EF4-01E6-C74C-5BC3-200CC2227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6B54A5CD-DFE3-3760-881C-E4E0CC62E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BC362B18-4CF4-6F76-161B-CA34946F0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F6B75DA6-3761-D485-9C03-C42C8CC50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53F85262-E230-FA74-2983-5D4D3A527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1A92DC6-CC3C-7D6C-A49F-27374E364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2AD30D26-6398-951D-2699-B86CE6384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8E2FC439-D413-B7FD-016C-CA8A9F79E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4A73FC3E-62D7-07C9-795E-F6FB6FD98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A595287-69AD-38B9-6E96-AB08BFF0D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B9847A2B-C32B-67DC-754B-83F690BC2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DE55435B-49DD-81F5-4CFC-7C3A226CF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7F7BB5FD-D3D8-D6BB-9C57-066C64494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EFFEB56-E5DF-8F6D-CF48-245702FAB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3313BF05-3A9B-60AD-5349-E9956E87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70C875BA-D223-044D-0B08-5A3963713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60FB8ACF-B679-7C05-7AFE-C1C14ACB5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F6D26D-8292-1BE8-8F74-8A363120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" y="1428726"/>
            <a:ext cx="4586983" cy="3302050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Entidades geográficas más mencionadas en las canciones de Shakira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CA3E2955-525A-6F1B-93F7-5F18E7E09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C4B53F1-26D3-5E65-A7C4-C74F8E1F3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646" y="1957388"/>
            <a:ext cx="6845483" cy="336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203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1965</TotalTime>
  <Words>1671</Words>
  <Application>Microsoft Office PowerPoint</Application>
  <PresentationFormat>Widescreen</PresentationFormat>
  <Paragraphs>104</Paragraphs>
  <Slides>18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Aharoni</vt:lpstr>
      <vt:lpstr>Algerian</vt:lpstr>
      <vt:lpstr>Aptos</vt:lpstr>
      <vt:lpstr>Arial</vt:lpstr>
      <vt:lpstr>Tw Cen MT</vt:lpstr>
      <vt:lpstr>Circuit</vt:lpstr>
      <vt:lpstr>De Texto Crudo a Insights: Pipeline Completo de Análisis de NLP. SHAKIRA Y SU HISTORIA MUSICAL</vt:lpstr>
      <vt:lpstr>Corpus</vt:lpstr>
      <vt:lpstr>Exploración inicial</vt:lpstr>
      <vt:lpstr>Exploración inicial</vt:lpstr>
      <vt:lpstr>Comparación WordCloud CON/sin Stopwords</vt:lpstr>
      <vt:lpstr>Comparación de vocabulario por álbum</vt:lpstr>
      <vt:lpstr>DIVERSIDAD LÉXICA por álbum</vt:lpstr>
      <vt:lpstr>Top 20 Palabras Más Relevantes</vt:lpstr>
      <vt:lpstr>Heatmap de Similitud entre Álbumes de Shakira</vt:lpstr>
      <vt:lpstr>INTERPRETACIONES MAS IMPORTANTES</vt:lpstr>
      <vt:lpstr>¿Qué limitaciones ves en este enfoque?</vt:lpstr>
      <vt:lpstr>Visualización de embeddings</vt:lpstr>
      <vt:lpstr>Hallazgos principales sobre el corpus</vt:lpstr>
      <vt:lpstr>Comparación de métodos utilizados</vt:lpstr>
      <vt:lpstr>Limitaciones encontradas</vt:lpstr>
      <vt:lpstr>Aplicaciones potenciales del análisis </vt:lpstr>
      <vt:lpstr>Distribución general de categorías gramaticales en el corpus</vt:lpstr>
      <vt:lpstr>Entidades geográficas más mencionadas en las canciones de Shakira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Rodriguez</dc:creator>
  <cp:lastModifiedBy>Carmen Rodriguez</cp:lastModifiedBy>
  <cp:revision>6</cp:revision>
  <dcterms:created xsi:type="dcterms:W3CDTF">2025-09-24T13:13:05Z</dcterms:created>
  <dcterms:modified xsi:type="dcterms:W3CDTF">2025-09-25T21:58:52Z</dcterms:modified>
</cp:coreProperties>
</file>